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1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7AAE40-EC51-40B7-BEE9-A309CD065EBB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65386-9BEA-4027-A533-701655781E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1B05FC8C-5F84-40FC-9DB3-36FAAD4852D4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3B58-94F3-49B3-A594-72F91CE4F73B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83B2-5A21-40A6-8CC9-AECD50B431A2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894BB91-8EDE-443C-934F-82BCDBE84739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0402FC8E-0AD3-46CC-B4A8-9E21B2D784F3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D778E-50AD-4331-9E18-57BE71B7F4DA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AFDFE-A229-48E6-90CD-7598AE829545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AFCCE-38D0-4CB1-84AE-92A62C822E7F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F64D0CD7-4FA3-45CB-B70F-EA07A191669C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14A09-1599-4196-9A51-AAA25C326068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691CC3B7-7831-48B7-B16A-CE5D505072FA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1"/>
                </a:solidFill>
              </a:defRPr>
            </a:lvl1pPr>
          </a:lstStyle>
          <a:p>
            <a:fld id="{76F79B87-CAF0-4157-B382-432074DEE2A5}" type="datetime1">
              <a:rPr lang="en-US" smtClean="0"/>
              <a:pPr/>
              <a:t>2/20/2026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50" name="Picture 2" descr="C:\Users\vipin.tyagi\Desktop\footer-img.pn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229600" y="228600"/>
            <a:ext cx="743185" cy="885265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304800"/>
            <a:ext cx="6477000" cy="838200"/>
          </a:xfrm>
        </p:spPr>
        <p:txBody>
          <a:bodyPr/>
          <a:lstStyle/>
          <a:p>
            <a:pPr algn="ctr">
              <a:defRPr sz="2700" b="1">
                <a:solidFill>
                  <a:srgbClr val="1B365D"/>
                </a:solidFill>
                <a:latin typeface="Arial"/>
              </a:defRPr>
            </a:pPr>
            <a:r>
              <a:t>AI-POWERED RESUME AUTOMATION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 err="1" smtClean="0">
                <a:solidFill>
                  <a:schemeClr val="bg1"/>
                </a:solidFill>
              </a:rPr>
              <a:t>Jaypee</a:t>
            </a:r>
            <a:r>
              <a:rPr lang="en-US" sz="2000" dirty="0" smtClean="0">
                <a:solidFill>
                  <a:schemeClr val="bg1"/>
                </a:solidFill>
              </a:rPr>
              <a:t> University of Engineering &amp; Technology, </a:t>
            </a:r>
            <a:r>
              <a:rPr lang="en-US" sz="2000" dirty="0" err="1" smtClean="0">
                <a:solidFill>
                  <a:schemeClr val="bg1"/>
                </a:solidFill>
              </a:rPr>
              <a:t>Guna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05000" y="1371600"/>
            <a:ext cx="5257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b="1" sz="1300">
                <a:solidFill>
                  <a:srgbClr val="1B365D"/>
                </a:solidFill>
              </a:defRPr>
            </a:pPr>
            <a:r>
              <a:t>by:</a:t>
            </a:r>
          </a:p>
          <a:p>
            <a:pPr algn="ctr">
              <a:defRPr sz="1300" b="1">
                <a:solidFill>
                  <a:srgbClr val="1E293B"/>
                </a:solidFill>
              </a:defRPr>
            </a:pPr>
            <a:r>
              <a:t>Utkarsh Shah (241B278)</a:t>
            </a:r>
          </a:p>
          <a:p>
            <a:pPr algn="ctr">
              <a:defRPr sz="1300" b="1">
                <a:solidFill>
                  <a:srgbClr val="1E293B"/>
                </a:solidFill>
              </a:defRPr>
            </a:pPr>
            <a:r>
              <a:t>Utsav Kothari (241B279)</a:t>
            </a:r>
          </a:p>
          <a:p>
            <a:pPr algn="ctr">
              <a:defRPr sz="1300" b="1">
                <a:solidFill>
                  <a:srgbClr val="1E293B"/>
                </a:solidFill>
              </a:defRPr>
            </a:pPr>
            <a:r>
              <a:t>Yashasv Pandey (241B295)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819400"/>
            <a:ext cx="457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b="1" sz="1300">
                <a:solidFill>
                  <a:srgbClr val="1B365D"/>
                </a:solidFill>
              </a:defRPr>
            </a:pPr>
            <a:r>
              <a:t>Under the supervision of:</a:t>
            </a:r>
          </a:p>
          <a:p>
            <a:pPr algn="ctr">
              <a:defRPr sz="1500" b="1">
                <a:solidFill>
                  <a:srgbClr val="366092"/>
                </a:solidFill>
              </a:defRPr>
            </a:pPr>
            <a:r>
              <a:t>Ms. Sarita Sahni</a:t>
            </a:r>
          </a:p>
        </p:txBody>
      </p:sp>
      <p:pic>
        <p:nvPicPr>
          <p:cNvPr id="1026" name="Picture 2" descr="C:\Users\vipin.tyagi\Desktop\footer-im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4343400"/>
            <a:ext cx="1041400" cy="124049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1B365D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71016"/>
            <a:ext cx="530352" cy="246888"/>
          </a:xfrm>
          <a:prstGeom prst="rect">
            <a:avLst/>
          </a:prstGeom>
          <a:noFill/>
        </p:spPr>
        <p:txBody>
          <a:bodyPr wrap="none" lIns="0" rIns="0" tIns="9144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388620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366092"/>
                </a:solidFill>
                <a:latin typeface="Arial"/>
              </a:defRPr>
            </a:pPr>
            <a:r>
              <a:t>1. Introduction</a:t>
            </a:r>
          </a:p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Project overview, core objectives &amp; target 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24328"/>
            <a:ext cx="388620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366092"/>
                </a:solidFill>
                <a:latin typeface="Arial"/>
              </a:defRPr>
            </a:pPr>
            <a:r>
              <a:t>2. Problem Statement</a:t>
            </a:r>
          </a:p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Key challenges in entry-level job applications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557016"/>
            <a:ext cx="388620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366092"/>
                </a:solidFill>
                <a:latin typeface="Arial"/>
              </a:defRPr>
            </a:pPr>
            <a:r>
              <a:t>3. Literature Review</a:t>
            </a:r>
          </a:p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Existing solutions, comparison matrix &amp; gaps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489704"/>
            <a:ext cx="388620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366092"/>
                </a:solidFill>
                <a:latin typeface="Arial"/>
              </a:defRPr>
            </a:pPr>
            <a:r>
              <a:t>4. Work Plan</a:t>
            </a:r>
          </a:p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10-week milestones &amp; current progress 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422392"/>
            <a:ext cx="388620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366092"/>
                </a:solidFill>
                <a:latin typeface="Arial"/>
              </a:defRPr>
            </a:pPr>
            <a:r>
              <a:t>5. Individual Contribution</a:t>
            </a:r>
          </a:p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Role allocation &amp; modular ownership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691640"/>
            <a:ext cx="388620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366092"/>
                </a:solidFill>
                <a:latin typeface="Arial"/>
              </a:defRPr>
            </a:pPr>
            <a:r>
              <a:t>6. Work Done So Far</a:t>
            </a:r>
          </a:p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System architecture, behavioral workflow &amp; Clyde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624328"/>
            <a:ext cx="388620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366092"/>
                </a:solidFill>
                <a:latin typeface="Arial"/>
              </a:defRPr>
            </a:pPr>
            <a:r>
              <a:t>7. Work to be Done</a:t>
            </a:r>
          </a:p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Browser extension, portal adapters &amp; evaluation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557016"/>
            <a:ext cx="388620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366092"/>
                </a:solidFill>
                <a:latin typeface="Arial"/>
              </a:defRPr>
            </a:pPr>
            <a:r>
              <a:t>8. Conclusion</a:t>
            </a:r>
          </a:p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Progress summary &amp; expected outcomes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489704"/>
            <a:ext cx="388620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366092"/>
                </a:solidFill>
                <a:latin typeface="Arial"/>
              </a:defRPr>
            </a:pPr>
            <a:r>
              <a:t>9. References</a:t>
            </a:r>
          </a:p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Academic citations in official IEEE format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1B365D"/>
                </a:solidFill>
                <a:latin typeface="Arial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71016"/>
            <a:ext cx="530352" cy="246888"/>
          </a:xfrm>
          <a:prstGeom prst="rect">
            <a:avLst/>
          </a:prstGeom>
          <a:noFill/>
        </p:spPr>
        <p:txBody>
          <a:bodyPr wrap="none" lIns="0" rIns="0" tIns="9144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388620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/>
          <a:lstStyle/>
          <a:p>
            <a:pPr algn="ctr">
              <a:defRPr sz="1500" b="1">
                <a:solidFill>
                  <a:srgbClr val="366092"/>
                </a:solidFill>
                <a:latin typeface="Arial"/>
              </a:defRPr>
            </a:pPr>
            <a:r>
              <a:t>Project Overview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AI-assisted career copilot designed specifically for college students and freshers.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Solves the fragmented job hunting journey by uniting discovery, evaluation, document tailoring, and tracking.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Extracts normalized candidate profiles from unstructured resumes to eliminate redundant parsing.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Combines LLM language comprehension with deterministic scoring and safety rules.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691640"/>
            <a:ext cx="388620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/>
          <a:lstStyle/>
          <a:p>
            <a:pPr algn="ctr">
              <a:defRPr sz="1500" b="1">
                <a:solidFill>
                  <a:srgbClr val="366092"/>
                </a:solidFill>
                <a:latin typeface="Arial"/>
              </a:defRPr>
            </a:pPr>
            <a:r>
              <a:t>Project Objectives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Reduce repetitive effort in searching, customizing, and applying across multiple job boards.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Deliver multi-factor job compatibility ranking (semantic similarity, skills match, preferences).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Generate ATS-compliant, tailored resumes and targeted cover letters without fabrications.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Establish Human-In-The-Loop approval gates: automation assists, but user retains final authorization.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303520"/>
            <a:ext cx="7955279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366092"/>
                </a:solidFill>
                <a:latin typeface="Arial"/>
              </a:defRPr>
            </a:pPr>
            <a:r>
              <a:t>End-to-End Application Workflow Pipeline: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  <a:latin typeface="Calibri"/>
              </a:defRPr>
            </a:pPr>
            <a:r>
              <a:t>Resume Upload  ➜  Profile Structuring  ➜  Job Discovery  ➜  Multi-Factor Match  ➜  ATS Tailoring  ➜  Reviewer Check  ➜  User Approval  ➜  Extension Autofill  ➜  Status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1B365D"/>
                </a:solidFill>
                <a:latin typeface="Arial"/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71016"/>
            <a:ext cx="530352" cy="246888"/>
          </a:xfrm>
          <a:prstGeom prst="rect">
            <a:avLst/>
          </a:prstGeom>
          <a:noFill/>
        </p:spPr>
        <p:txBody>
          <a:bodyPr wrap="none" lIns="0" rIns="0" tIns="9144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388620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366092"/>
                </a:solidFill>
                <a:latin typeface="Arial"/>
              </a:defRPr>
            </a:pPr>
            <a:r>
              <a:t>Challenges Faced by Students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Fragmented Portals: Students spend endless hours navigating company websites, LinkedIn, and internship boards.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Generic Resumes: Submitting a single static resume leads to immediate rejection by ATS filters.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Repetitive Tailoring: Manually customizing resumes and cover letters for dozens of roles causes severe burnout.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Lost Applications: Tracking status, versions, and application dates in spreadsheets is tedious and error-prone.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691640"/>
            <a:ext cx="388620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D9531E"/>
                </a:solidFill>
                <a:latin typeface="Arial"/>
              </a:defRPr>
            </a:pPr>
            <a:r>
              <a:t>Flaws in Current Automation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Uncontrolled Scripts: Existing bot appliers submit without user oversight, risking bans and wrong applications.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Hallucinated Claims: Naive LLM resume builders frequently invent fake experience or stuffed keywords.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No Session Reusability: Cloud automation tools require storing credentials, risking security leaks.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Disconnected Tooling: Resume builders, job alerts, and tracker boards operate in isolated silos.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120640"/>
            <a:ext cx="7955279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100" b="1">
                <a:solidFill>
                  <a:srgbClr val="366092"/>
                </a:solidFill>
                <a:latin typeface="Arial"/>
              </a:defRPr>
            </a:pPr>
            <a:r>
              <a:t>Core Problem Addressed:</a:t>
            </a:r>
          </a:p>
          <a:p>
            <a:pPr>
              <a:spcBef>
                <a:spcPts val="400"/>
              </a:spcBef>
              <a:defRPr sz="1150" b="1">
                <a:solidFill>
                  <a:srgbClr val="1B365D"/>
                </a:solidFill>
                <a:latin typeface="Calibri"/>
              </a:defRPr>
            </a:pPr>
            <a:r>
              <a:t>“How can an intelligent, multi-agent system eliminate repetitive job application effort while preserving ATS relevance, document truthfulness, and guaranteed user approval at every critical step?”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1B365D"/>
                </a:solidFill>
                <a:latin typeface="Arial"/>
              </a:defRPr>
            </a:pPr>
            <a:r>
              <a:t>3. Literature Review &amp;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71016"/>
            <a:ext cx="530352" cy="246888"/>
          </a:xfrm>
          <a:prstGeom prst="rect">
            <a:avLst/>
          </a:prstGeom>
          <a:noFill/>
        </p:spPr>
        <p:txBody>
          <a:bodyPr wrap="none" lIns="0" rIns="0" tIns="9144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91640"/>
          <a:ext cx="79552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188720"/>
                <a:gridCol w="1188720"/>
                <a:gridCol w="1188720"/>
                <a:gridCol w="1188720"/>
                <a:gridCol w="128016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 / Approach</a:t>
                      </a:r>
                    </a:p>
                  </a:txBody>
                  <a:tcPr anchor="ctr"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Job Discovery</a:t>
                      </a:r>
                    </a:p>
                  </a:txBody>
                  <a:tcPr anchor="ctr"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Resume Tailoring</a:t>
                      </a:r>
                    </a:p>
                  </a:txBody>
                  <a:tcPr anchor="ctr"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Auto Apply</a:t>
                      </a:r>
                    </a:p>
                  </a:txBody>
                  <a:tcPr anchor="ctr"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Tracking</a:t>
                      </a:r>
                    </a:p>
                  </a:txBody>
                  <a:tcPr anchor="ctr"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User Approval</a:t>
                      </a:r>
                    </a:p>
                  </a:txBody>
                  <a:tcPr anchor="ctr">
                    <a:solidFill>
                      <a:srgbClr val="36609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Traditional Job Boards (LinkedIn, Indeed)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Auto-Apply Bots (AIHawk, Scripts)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Basic / None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 (Aggressive)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 (Risk of Bans)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AI Resume Builders (Novoresume, etc.)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 (Manual)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Proposed System (Career Copilot)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Yes (Hybrid Adapters)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Yes (ATS Verified)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Supported Portals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Yes (Real-time)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Yes (Mandatory Gate)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4360" y="3931920"/>
            <a:ext cx="388620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 b="1">
                <a:solidFill>
                  <a:srgbClr val="D9531E"/>
                </a:solidFill>
                <a:latin typeface="Arial"/>
              </a:defRPr>
            </a:pPr>
            <a:r>
              <a:t>Identified Research Gaps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Fragmented Tooling: Job search, document drafting, and application tracking are isolated.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Unverified AI Output: Generic LLM resumes suffer from keyword stuffing and inaccurate claims.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Safety Neglect: Autonomous scripts submit without user review, risking irrelevance and bans.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3931920"/>
            <a:ext cx="388620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 b="1">
                <a:solidFill>
                  <a:srgbClr val="366092"/>
                </a:solidFill>
                <a:latin typeface="Arial"/>
              </a:defRPr>
            </a:pPr>
            <a:r>
              <a:t>Proposed Improvements &amp; Innovation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Unified Multi-Agent Architecture: Orchestrates parsing, matching, tailoring, and tracking.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Drafter ➜ Reviewer ➜ Verification Loop: Deterministic scoring and PDF verification eliminate hallucinated claims.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Browser Extension Architecture: Executes actions within the user's active session without exposing credentials.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1B365D"/>
                </a:solidFill>
                <a:latin typeface="Arial"/>
              </a:defRPr>
            </a:pPr>
            <a:r>
              <a:t>4. Work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71016"/>
            <a:ext cx="530352" cy="246888"/>
          </a:xfrm>
          <a:prstGeom prst="rect">
            <a:avLst/>
          </a:prstGeom>
          <a:noFill/>
        </p:spPr>
        <p:txBody>
          <a:bodyPr wrap="none" lIns="0" rIns="0" tIns="9144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91640"/>
          <a:ext cx="7955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754880"/>
                <a:gridCol w="1828800"/>
              </a:tblGrid>
              <a:tr h="38238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Week</a:t>
                      </a:r>
                    </a:p>
                  </a:txBody>
                  <a:tcPr anchor="ctr"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 Work</a:t>
                      </a:r>
                    </a:p>
                  </a:txBody>
                  <a:tcPr anchor="ctr"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366092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66092"/>
                          </a:solidFill>
                          <a:latin typeface="Calibri"/>
                        </a:defRPr>
                      </a:pPr>
                      <a:r>
                        <a:t>Week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Problem identification, student user interviews, and requirement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66092"/>
                          </a:solidFill>
                          <a:latin typeface="Calibri"/>
                        </a:defRPr>
                      </a:pPr>
                      <a:r>
                        <a:t>Week 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Literature review, existing system benchmarking (AIHawk, LoopCV, LinkedIn bots)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66092"/>
                          </a:solidFill>
                          <a:latin typeface="Calibri"/>
                        </a:defRPr>
                      </a:pPr>
                      <a:r>
                        <a:t>Week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Frontend architecture, Clyde Dark Editorial design system &amp; component mockup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66092"/>
                          </a:solidFill>
                          <a:latin typeface="Calibri"/>
                        </a:defRPr>
                      </a:pPr>
                      <a:r>
                        <a:t>Week 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Backend event-driven multi-agent architecture and FastAPI service design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66092"/>
                          </a:solidFill>
                          <a:latin typeface="Calibri"/>
                        </a:defRPr>
                      </a:pPr>
                      <a:r>
                        <a:t>Week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Multi-user database schema, relational domain modeling, and FAISS vector design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66092"/>
                          </a:solidFill>
                          <a:latin typeface="Calibri"/>
                        </a:defRPr>
                      </a:pPr>
                      <a:r>
                        <a:t>Week 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Resume upload, structured candidate profile parsing, and profile data models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66092"/>
                          </a:solidFill>
                          <a:latin typeface="Calibri"/>
                        </a:defRPr>
                      </a:pPr>
                      <a:r>
                        <a:t>Week 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FAISS vector embedding pipeline and multi-factor semantic job matching module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66092"/>
                          </a:solidFill>
                          <a:latin typeface="Calibri"/>
                        </a:defRPr>
                      </a:pPr>
                      <a:r>
                        <a:t>Week 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AI Agent workflows (ATS agent, Drafter-Reviewer revision loop, model router)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A16207"/>
                          </a:solidFill>
                          <a:latin typeface="Calibri"/>
                        </a:defRPr>
                      </a:pPr>
                      <a:r>
                        <a:t>In Progress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66092"/>
                          </a:solidFill>
                          <a:latin typeface="Calibri"/>
                        </a:defRPr>
                      </a:pPr>
                      <a:r>
                        <a:t>Week 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Browser extension development, supported portal form mapping &amp; autofill engine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A16207"/>
                          </a:solidFill>
                          <a:latin typeface="Calibri"/>
                        </a:defRPr>
                      </a:pPr>
                      <a:r>
                        <a:t>In Progress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</a:tr>
              <a:tr h="38239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66092"/>
                          </a:solidFill>
                          <a:latin typeface="Calibri"/>
                        </a:defRPr>
                      </a:pPr>
                      <a:r>
                        <a:t>Week 10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System integration, ATS benchmark evaluation, user testing &amp; final viva presentation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Pending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989320"/>
            <a:ext cx="7955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475569"/>
                </a:solidFill>
                <a:latin typeface="Calibri"/>
              </a:defRPr>
            </a:pPr>
            <a:r>
              <a:t>* Status directly aligns with official weekly reports (Completed up to Frontend, Resume Parsing, AI Agent, and FAISS).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1B365D"/>
                </a:solidFill>
                <a:latin typeface="Arial"/>
              </a:defRPr>
            </a:pPr>
            <a:r>
              <a:t>5. Individual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71016"/>
            <a:ext cx="530352" cy="246888"/>
          </a:xfrm>
          <a:prstGeom prst="rect">
            <a:avLst/>
          </a:prstGeom>
          <a:noFill/>
        </p:spPr>
        <p:txBody>
          <a:bodyPr wrap="none" lIns="0" rIns="0" tIns="9144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91640"/>
          <a:ext cx="79552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4480560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Member Name</a:t>
                      </a:r>
                    </a:p>
                  </a:txBody>
                  <a:tcPr anchor="ctr"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Enrollment No.</a:t>
                      </a:r>
                    </a:p>
                  </a:txBody>
                  <a:tcPr anchor="ctr"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Core Contribution &amp; System Ownership</a:t>
                      </a:r>
                    </a:p>
                  </a:txBody>
                  <a:tcPr anchor="ctr">
                    <a:solidFill>
                      <a:srgbClr val="36609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Utkarsh Shah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66092"/>
                          </a:solidFill>
                          <a:latin typeface="Calibri"/>
                        </a:defRPr>
                      </a:pPr>
                      <a:r>
                        <a:t>241B278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System Architecture, Event-Driven Backend (FastAPI, Redis event queue), Multi-Agent Orchestration &amp; Model Router (GLM, Qwen, Groq).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Utsav Kothari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66092"/>
                          </a:solidFill>
                          <a:latin typeface="Calibri"/>
                        </a:defRPr>
                      </a:pPr>
                      <a:r>
                        <a:t>241B279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Frontend Architecture, Clyde Dark Editorial UI/UX implementation, Agent Dashboard, Resume Center, and WebSocket state management.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Yashasv Pandey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66092"/>
                          </a:solidFill>
                          <a:latin typeface="Calibri"/>
                        </a:defRPr>
                      </a:pPr>
                      <a:r>
                        <a:t>241B295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Resume Parsing Engine, Structured Profile Extraction, FAISS Vector Embedding Store, and Multi-Factor Job Matching Algorithm.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4360" y="4846320"/>
            <a:ext cx="7955279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200" b="1">
                <a:solidFill>
                  <a:srgbClr val="366092"/>
                </a:solidFill>
                <a:latin typeface="Arial"/>
              </a:defRPr>
            </a:pPr>
            <a:r>
              <a:t>Collaborative Team Responsibilities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Joint requirement engineering and analysis of college student job-application friction points.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Collaborative system design, behavioral sequence modeling, and end-to-end data pipeline validation.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Unified testing, ATS scoring benchmark evaluation, documentation, and department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B365D"/>
                </a:solidFill>
                <a:latin typeface="Arial"/>
              </a:defRPr>
            </a:pPr>
            <a:r>
              <a:t>6. Work Done So Far: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71016"/>
            <a:ext cx="530352" cy="246888"/>
          </a:xfrm>
          <a:prstGeom prst="rect">
            <a:avLst/>
          </a:prstGeom>
          <a:noFill/>
        </p:spPr>
        <p:txBody>
          <a:bodyPr wrap="none" lIns="0" rIns="0" tIns="9144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7955279" cy="11704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758952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366092"/>
                </a:solidFill>
                <a:latin typeface="Arial"/>
              </a:defRPr>
            </a:pPr>
            <a:r>
              <a:t>1. PRESENTATION &amp; CLIENT LAYER (React 18, TypeScript, Clyde Dark Editorial UI)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93392"/>
            <a:ext cx="17830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b="1" sz="950">
                <a:solidFill>
                  <a:srgbClr val="1B365D"/>
                </a:solidFill>
              </a:defRPr>
            </a:pPr>
            <a:r>
              <a:t>Agent Dashboard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Natural language chat, task activity &amp;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70048" y="1993392"/>
            <a:ext cx="17830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b="1" sz="950">
                <a:solidFill>
                  <a:srgbClr val="1B365D"/>
                </a:solidFill>
              </a:defRPr>
            </a:pPr>
            <a:r>
              <a:t>Resume Center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PDF upload, structured profile &amp; ATS versioning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08576" y="1993392"/>
            <a:ext cx="17830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b="1" sz="950">
                <a:solidFill>
                  <a:srgbClr val="1B365D"/>
                </a:solidFill>
              </a:defRPr>
            </a:pPr>
            <a:r>
              <a:t>Job Discovery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Semantic match scores, filters &amp; role cards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47104" y="1993392"/>
            <a:ext cx="17830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b="1" sz="950">
                <a:solidFill>
                  <a:srgbClr val="1B365D"/>
                </a:solidFill>
              </a:defRPr>
            </a:pPr>
            <a:r>
              <a:t>Browser Extension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DOM inspection, form mapper &amp; session autofill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944368"/>
            <a:ext cx="7955279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80944"/>
            <a:ext cx="758952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1B365D"/>
                </a:solidFill>
                <a:latin typeface="Arial"/>
              </a:defRPr>
            </a:pPr>
            <a:r>
              <a:t>2. EVENT-DRIVEN MULTI-AGENT BACKEND LAYER (FastAPI Gateway + Redis Event Bus)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73552"/>
            <a:ext cx="17830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00">
                <a:solidFill>
                  <a:srgbClr val="366092"/>
                </a:solidFill>
              </a:defRPr>
            </a:pPr>
            <a:r>
              <a:t>Orchestrator Agent</a:t>
            </a:r>
          </a:p>
          <a:p>
            <a:pPr>
              <a:defRPr sz="700">
                <a:solidFill>
                  <a:srgbClr val="475569"/>
                </a:solidFill>
              </a:defRPr>
            </a:pPr>
            <a:r>
              <a:t>Workflow planner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70048" y="3273552"/>
            <a:ext cx="17830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00">
                <a:solidFill>
                  <a:srgbClr val="366092"/>
                </a:solidFill>
              </a:defRPr>
            </a:pPr>
            <a:r>
              <a:t>Resume Agent</a:t>
            </a:r>
          </a:p>
          <a:p>
            <a:pPr>
              <a:defRPr sz="700">
                <a:solidFill>
                  <a:srgbClr val="475569"/>
                </a:solidFill>
              </a:defRPr>
            </a:pPr>
            <a:r>
              <a:t>Parser &amp; tailor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576" y="3273552"/>
            <a:ext cx="17830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00">
                <a:solidFill>
                  <a:srgbClr val="366092"/>
                </a:solidFill>
              </a:defRPr>
            </a:pPr>
            <a:r>
              <a:t>Job Discovery Agent</a:t>
            </a:r>
          </a:p>
          <a:p>
            <a:pPr>
              <a:defRPr sz="700">
                <a:solidFill>
                  <a:srgbClr val="475569"/>
                </a:solidFill>
              </a:defRPr>
            </a:pPr>
            <a:r>
              <a:t>Source adapters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47104" y="3273552"/>
            <a:ext cx="17830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00">
                <a:solidFill>
                  <a:srgbClr val="366092"/>
                </a:solidFill>
              </a:defRPr>
            </a:pPr>
            <a:r>
              <a:t>ATS Agent</a:t>
            </a:r>
          </a:p>
          <a:p>
            <a:pPr>
              <a:defRPr sz="700">
                <a:solidFill>
                  <a:srgbClr val="475569"/>
                </a:solidFill>
              </a:defRPr>
            </a:pPr>
            <a:r>
              <a:t>Scoring &amp; verifier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85616"/>
            <a:ext cx="17830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00">
                <a:solidFill>
                  <a:srgbClr val="366092"/>
                </a:solidFill>
              </a:defRPr>
            </a:pPr>
            <a:r>
              <a:t>Cover Letter Agent</a:t>
            </a:r>
          </a:p>
          <a:p>
            <a:pPr>
              <a:defRPr sz="700">
                <a:solidFill>
                  <a:srgbClr val="475569"/>
                </a:solidFill>
              </a:defRPr>
            </a:pPr>
            <a:r>
              <a:t>Targeted drafting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70048" y="3785616"/>
            <a:ext cx="17830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00">
                <a:solidFill>
                  <a:srgbClr val="366092"/>
                </a:solidFill>
              </a:defRPr>
            </a:pPr>
            <a:r>
              <a:t>Reviewer Agent</a:t>
            </a:r>
          </a:p>
          <a:p>
            <a:pPr>
              <a:defRPr sz="700">
                <a:solidFill>
                  <a:srgbClr val="475569"/>
                </a:solidFill>
              </a:defRPr>
            </a:pPr>
            <a:r>
              <a:t>Quality &amp; audit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08576" y="3785616"/>
            <a:ext cx="17830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00">
                <a:solidFill>
                  <a:srgbClr val="366092"/>
                </a:solidFill>
              </a:defRPr>
            </a:pPr>
            <a:r>
              <a:t>Application Agent</a:t>
            </a:r>
          </a:p>
          <a:p>
            <a:pPr>
              <a:defRPr sz="700">
                <a:solidFill>
                  <a:srgbClr val="475569"/>
                </a:solidFill>
              </a:defRPr>
            </a:pPr>
            <a:r>
              <a:t>Submission logic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47104" y="3785616"/>
            <a:ext cx="17830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00">
                <a:solidFill>
                  <a:srgbClr val="366092"/>
                </a:solidFill>
              </a:defRPr>
            </a:pPr>
            <a:r>
              <a:t>Tracking Agent</a:t>
            </a:r>
          </a:p>
          <a:p>
            <a:pPr>
              <a:defRPr sz="700">
                <a:solidFill>
                  <a:srgbClr val="475569"/>
                </a:solidFill>
              </a:defRPr>
            </a:pPr>
            <a:r>
              <a:t>Telemetry &amp; logs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70832"/>
            <a:ext cx="7680960" cy="36576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Central Model Router: GLM (Drafting/Writing) | Qwen (Reasoning) | Groq (Fast Inference) | Ollama (Local Fallback)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983480"/>
            <a:ext cx="7955279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29200"/>
            <a:ext cx="758952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366092"/>
                </a:solidFill>
                <a:latin typeface="Arial"/>
              </a:defRPr>
            </a:pPr>
            <a:r>
              <a:t>3. DATA PERSISTENCE &amp; VECTOR INTELLIGENCE LAYER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21808"/>
            <a:ext cx="245059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b="1" sz="950">
                <a:solidFill>
                  <a:srgbClr val="1B365D"/>
                </a:solidFill>
              </a:defRPr>
            </a:pPr>
            <a:r>
              <a:t>PostgreSQL (Relational Store)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Multi-user tables: Users, Resumes, Jobs, Applications, Events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46704" y="5321808"/>
            <a:ext cx="245059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b="1" sz="950">
                <a:solidFill>
                  <a:srgbClr val="1B365D"/>
                </a:solidFill>
              </a:defRPr>
            </a:pPr>
            <a:r>
              <a:t>FAISS (Vector Store)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High-performance embedding indices for resume &amp; job vectors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61888" y="5321808"/>
            <a:ext cx="245059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b="1" sz="950">
                <a:solidFill>
                  <a:srgbClr val="1B365D"/>
                </a:solidFill>
              </a:defRPr>
            </a:pPr>
            <a:r>
              <a:t>Redis (Cache &amp; Event Queue)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Decoupled pub/sub event bus, transient states, rate limiting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1B365D"/>
                </a:solidFill>
                <a:latin typeface="Arial"/>
              </a:defRPr>
            </a:pPr>
            <a:r>
              <a:t>6. Work Done So Far: Behavioral Workflow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71016"/>
            <a:ext cx="530352" cy="246888"/>
          </a:xfrm>
          <a:prstGeom prst="rect">
            <a:avLst/>
          </a:prstGeom>
          <a:noFill/>
        </p:spPr>
        <p:txBody>
          <a:bodyPr wrap="none" lIns="0" rIns="0" tIns="9144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38862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50" b="1">
                <a:solidFill>
                  <a:srgbClr val="366092"/>
                </a:solidFill>
                <a:latin typeface="Arial"/>
              </a:defRPr>
            </a:pPr>
            <a:r>
              <a:t>End-to-End Behavioral Workflow</a:t>
            </a:r>
          </a:p>
          <a:p>
            <a:pPr>
              <a:spcBef>
                <a:spcPts val="25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t>1. Ingestion: Candidate uploads resume PDF to Resume Center.</a:t>
            </a:r>
          </a:p>
          <a:p>
            <a:pPr>
              <a:spcBef>
                <a:spcPts val="25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t>2. Structuring: Resume Agent extracts skills, education, projects.</a:t>
            </a:r>
          </a:p>
          <a:p>
            <a:pPr>
              <a:spcBef>
                <a:spcPts val="25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t>3. Profile Persistence: Normalized profile saved in PostgreSQL.</a:t>
            </a:r>
          </a:p>
          <a:p>
            <a:pPr>
              <a:spcBef>
                <a:spcPts val="25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t>4. Job Discovery: Hybrid adapters query API/boards/career pages.</a:t>
            </a:r>
          </a:p>
          <a:p>
            <a:pPr>
              <a:spcBef>
                <a:spcPts val="25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t>5. Multi-Factor Match: FAISS vector similarity + deterministic scoring.</a:t>
            </a:r>
          </a:p>
          <a:p>
            <a:pPr>
              <a:spcBef>
                <a:spcPts val="25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t>6. Resume Tailoring: Resume Agent tailors bullet points to JD.</a:t>
            </a:r>
          </a:p>
          <a:p>
            <a:pPr>
              <a:spcBef>
                <a:spcPts val="25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t>7. Quality Review: Reviewer Agent checks claims &amp; keyword density.</a:t>
            </a:r>
          </a:p>
          <a:p>
            <a:pPr>
              <a:spcBef>
                <a:spcPts val="25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t>8. PDF Verification: Text extracted from rendered PDF for check.</a:t>
            </a:r>
          </a:p>
          <a:p>
            <a:pPr>
              <a:spcBef>
                <a:spcPts val="25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t>9. Cover Letter: Tailored company letter drafted &amp; verified.</a:t>
            </a:r>
          </a:p>
          <a:p>
            <a:pPr>
              <a:spcBef>
                <a:spcPts val="25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t>10. Safety Gate: Mandatory user approval prompt on UI.</a:t>
            </a:r>
          </a:p>
          <a:p>
            <a:pPr>
              <a:spcBef>
                <a:spcPts val="25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t>11. Dispatch: Application Agent transmits action plan to extension.</a:t>
            </a:r>
          </a:p>
          <a:p>
            <a:pPr>
              <a:spcBef>
                <a:spcPts val="25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t>12. Submission: Browser extension autofills &amp; submits in session.</a:t>
            </a:r>
          </a:p>
          <a:p>
            <a:pPr>
              <a:spcBef>
                <a:spcPts val="25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t>13. Tracking: Tracking Agent logs timestamp &amp; status in DB.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645920"/>
            <a:ext cx="388620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50" b="1">
                <a:solidFill>
                  <a:srgbClr val="366092"/>
                </a:solidFill>
                <a:latin typeface="Arial"/>
              </a:defRPr>
            </a:pPr>
            <a:r>
              <a:t>Multi-User Database Schema Domains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t>• Candidate Domain: users, resumes, resume_versions, candidate_profiles, extracted_skills, education, projects.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t>• Job Domain: companies, job_sources, jobs, job_matches.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t>• Application Domain: cover_letters, applications (Status: Saved, Ready, Applied, Interview, Rejected), events.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t>• Agent Domain: workflows, agent_runs, provider_health.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3977639"/>
            <a:ext cx="3886200" cy="2148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50" b="1">
                <a:solidFill>
                  <a:srgbClr val="366092"/>
                </a:solidFill>
                <a:latin typeface="Arial"/>
              </a:defRPr>
            </a:pPr>
            <a:r>
              <a:t>AI Quality Pipeline &amp; Safety Model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t>• Drafter ➜ Reviewer ➜ Revision Loop: Independent Reviewer Agent audits drafts against strict rules before finalizing.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t>• Anti-Hallucination: Rejects unsupported experience claims.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t>• Keyword Verification: Prevents spammy keyword stuffing.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t>• Hybrid Approval Policy: Low-risk tasks (search, match, ATS scoring) run autonomously; Critical actions (version commit, application submission) require explicit user click.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1B365D"/>
                </a:solidFill>
                <a:latin typeface="Arial"/>
              </a:defRPr>
            </a:pPr>
            <a:r>
              <a:t>6. Work Done So Far: Application UI (Clyde Copilot)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71016"/>
            <a:ext cx="530352" cy="246888"/>
          </a:xfrm>
          <a:prstGeom prst="rect">
            <a:avLst/>
          </a:prstGeom>
          <a:noFill/>
        </p:spPr>
        <p:txBody>
          <a:bodyPr wrap="none" lIns="0" rIns="0" tIns="9144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388620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36576"/>
          <a:lstStyle/>
          <a:p>
            <a:pPr algn="ctr">
              <a:defRPr sz="950" b="1">
                <a:solidFill>
                  <a:srgbClr val="1B365D"/>
                </a:solidFill>
                <a:latin typeface="Arial"/>
              </a:defRPr>
            </a:pPr>
            <a:r>
              <a:t>1. AI Career Copilot Dashboard (Chat &amp; Telemetry)</a:t>
            </a:r>
          </a:p>
        </p:txBody>
      </p:sp>
      <p:pic>
        <p:nvPicPr>
          <p:cNvPr id="6" name="Picture 5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29968"/>
            <a:ext cx="3703320" cy="171907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663440" y="1645920"/>
            <a:ext cx="388620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36576"/>
          <a:lstStyle/>
          <a:p>
            <a:pPr algn="ctr">
              <a:defRPr sz="950" b="1">
                <a:solidFill>
                  <a:srgbClr val="1B365D"/>
                </a:solidFill>
                <a:latin typeface="Arial"/>
              </a:defRPr>
            </a:pPr>
            <a:r>
              <a:t>2. Resume Optimization Center (Profiles &amp; Versions)</a:t>
            </a:r>
          </a:p>
        </p:txBody>
      </p:sp>
      <p:pic>
        <p:nvPicPr>
          <p:cNvPr id="8" name="Picture 7" descr="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029968"/>
            <a:ext cx="3703320" cy="17190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4360" y="3977639"/>
            <a:ext cx="388620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36576"/>
          <a:lstStyle/>
          <a:p>
            <a:pPr algn="ctr">
              <a:defRPr sz="950" b="1">
                <a:solidFill>
                  <a:srgbClr val="1B365D"/>
                </a:solidFill>
                <a:latin typeface="Arial"/>
              </a:defRPr>
            </a:pPr>
            <a:r>
              <a:t>3. Job Discovery &amp; Match Ranking (FAISS Similarity)</a:t>
            </a:r>
          </a:p>
        </p:txBody>
      </p:sp>
      <p:pic>
        <p:nvPicPr>
          <p:cNvPr id="10" name="Picture 9" descr="sc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361687"/>
            <a:ext cx="3703320" cy="171907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663440" y="3977639"/>
            <a:ext cx="388620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36576"/>
          <a:lstStyle/>
          <a:p>
            <a:pPr algn="ctr">
              <a:defRPr sz="950" b="1">
                <a:solidFill>
                  <a:srgbClr val="1B365D"/>
                </a:solidFill>
                <a:latin typeface="Arial"/>
              </a:defRPr>
            </a:pPr>
            <a:r>
              <a:t>4. ATS Keyword &amp; Gap Analysis (Deterministic Scoring)</a:t>
            </a:r>
          </a:p>
        </p:txBody>
      </p:sp>
      <p:pic>
        <p:nvPicPr>
          <p:cNvPr id="12" name="Picture 11" descr="sc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361687"/>
            <a:ext cx="3703320" cy="17190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1B365D"/>
                </a:solidFill>
                <a:latin typeface="Arial"/>
              </a:defRPr>
            </a:pPr>
            <a:r>
              <a:t>7. Work to be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71016"/>
            <a:ext cx="530352" cy="246888"/>
          </a:xfrm>
          <a:prstGeom prst="rect">
            <a:avLst/>
          </a:prstGeom>
          <a:noFill/>
        </p:spPr>
        <p:txBody>
          <a:bodyPr wrap="none" lIns="0" rIns="0" tIns="9144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388620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366092"/>
                </a:solidFill>
                <a:latin typeface="Arial"/>
              </a:defRPr>
            </a:pPr>
            <a:r>
              <a:t>Implementation Tasks Ahead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Browser Extension Completion: Implement content scripts and form autofill engine for Workday, Greenhouse, and LinkedIn.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Model Router Integration: Finalize automatic provider failover (GLM ➜ Qwen ➜ Groq ➜ Ollama fallback).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PDF Verification Pipeline: Deploy deterministic text-extraction verification to ensure rendered PDF matches approved structured resume.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Full Multi-User Migration: Finalize database migrations for production multi-user session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691640"/>
            <a:ext cx="388620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366092"/>
                </a:solidFill>
                <a:latin typeface="Arial"/>
              </a:defRPr>
            </a:pPr>
            <a:r>
              <a:t>Testing, Evaluation &amp; Benchmarking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ATS Pass Rate Benchmark: Measure keyword match improvements on 50+ real software and AI internship descriptions.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Submission Accuracy Testing: Test form autofill precision on complex multi-step application forms.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Latency &amp; Reliability Audits: Benchmark end-to-end processing times across Redis queue and multi-agent pipelines.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User Evaluation Study: Run pilot trials with JUET students to collect feedback on approval UX and match relevance.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1B365D"/>
                </a:solidFill>
                <a:latin typeface="Arial"/>
              </a:defRPr>
            </a:pPr>
            <a:r>
              <a:t>8. Conclusion &amp; Expected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71016"/>
            <a:ext cx="530352" cy="246888"/>
          </a:xfrm>
          <a:prstGeom prst="rect">
            <a:avLst/>
          </a:prstGeom>
          <a:noFill/>
        </p:spPr>
        <p:txBody>
          <a:bodyPr wrap="none" lIns="0" rIns="0" tIns="9144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388620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366092"/>
                </a:solidFill>
                <a:latin typeface="Arial"/>
              </a:defRPr>
            </a:pPr>
            <a:r>
              <a:t>Summary of Progress So Far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Completed rigorous requirement engineering and literature benchmark.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Finalized full event-driven multi-agent architecture and database schema.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Developed full modern Clyde Dark Editorial frontend dashboard.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Functional working modules: Resume PDF parsing, structured candidate profiles, AI agent chat, and FAISS vector similarity search.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691640"/>
            <a:ext cx="388620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366092"/>
                </a:solidFill>
                <a:latin typeface="Arial"/>
              </a:defRPr>
            </a:pPr>
            <a:r>
              <a:t>Expected Project Outcomes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A complete, student-centric career copilot reducing application fatigue by &gt;80%.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Significantly higher ATS shortlisting rates through tailored, truthful resumes.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100% user safety with zero credential storage and mandatory human approval.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A robust, extensible architectural benchmark for event-driven academic multi-agent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120640"/>
            <a:ext cx="7955279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100" b="1">
                <a:solidFill>
                  <a:srgbClr val="366092"/>
                </a:solidFill>
                <a:latin typeface="Arial"/>
              </a:defRPr>
            </a:pPr>
            <a:r>
              <a:t>Core Takeaway:</a:t>
            </a:r>
          </a:p>
          <a:p>
            <a:pPr>
              <a:spcBef>
                <a:spcPts val="400"/>
              </a:spcBef>
              <a:defRPr sz="1150" b="1">
                <a:solidFill>
                  <a:srgbClr val="1B365D"/>
                </a:solidFill>
                <a:latin typeface="Calibri"/>
              </a:defRPr>
            </a:pPr>
            <a:r>
              <a:t>“The system does not replace the student’s judgment—it eliminates repetitive manual toil, unlocks deep opportunity visibility, and guarantees that every submitted application is relevant, verified, and user-approved.”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1B365D"/>
                </a:solidFill>
                <a:latin typeface="Arial"/>
              </a:defRPr>
            </a:pPr>
            <a:r>
              <a:t>9.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71016"/>
            <a:ext cx="530352" cy="246888"/>
          </a:xfrm>
          <a:prstGeom prst="rect">
            <a:avLst/>
          </a:prstGeom>
          <a:noFill/>
        </p:spPr>
        <p:txBody>
          <a:bodyPr wrap="none" lIns="0" rIns="0" tIns="9144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7955279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300" b="1">
                <a:solidFill>
                  <a:srgbClr val="366092"/>
                </a:solidFill>
                <a:latin typeface="Arial"/>
              </a:defRPr>
            </a:pPr>
            <a:r>
              <a:t>Academic &amp; Technical References (IEEE Format)</a:t>
            </a:r>
          </a:p>
          <a:p>
            <a:pPr>
              <a:spcBef>
                <a:spcPts val="12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[1] M. Lorentzen, “AI Job Search,” GitHub repository, 2026. [Online]. Available: https://github.com/MadsLorentzen/ai-job-search. [Accessed: Sep. 4, 2026].</a:t>
            </a:r>
          </a:p>
          <a:p>
            <a:pPr>
              <a:spcBef>
                <a:spcPts val="12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[2] feder-cr, “Jobs Applier AI Agent AIHawk,” GitHub repository, 2026. [Online]. Available: https://github.com/feder-cr/Jobs_Applier_AI_Agent_AIHawk. [Accessed: Sep. 4, 2026].</a:t>
            </a:r>
          </a:p>
          <a:p>
            <a:pPr>
              <a:spcBef>
                <a:spcPts val="12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[3] jomacs, “LinkedIn Auto Jobs Applier with AI,” GitHub repository, 2026. [Online]. Available: https://github.com/jomacs/linkedIn_auto_jobs_applier_with_AI. [Accessed: Sep. 4, 2026].</a:t>
            </a:r>
          </a:p>
          <a:p>
            <a:pPr>
              <a:spcBef>
                <a:spcPts val="12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[4] S. Fer, “Career Ops,” GitHub repository, 2026. [Online]. Available: https://github.com/santifer/career-ops. [Accessed: Sep. 4, 2026].</a:t>
            </a:r>
          </a:p>
          <a:p>
            <a:pPr>
              <a:spcBef>
                <a:spcPts val="12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[5] LoopCV, “LoopCV: Job Search Automation Platform,” 2026. [Online]. Available: https://www.loopcv.pro/. [Accessed: Sep. 4, 2026].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916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352" y="151790"/>
            <a:ext cx="1216152" cy="14447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651760"/>
            <a:ext cx="7315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B365D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66092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Utkarsh Shah (241B278)   |   Utsav Kothari (241B279)   |   Yashasv Pandey (241B295)</a:t>
            </a:r>
          </a:p>
          <a:p>
            <a:pPr algn="ctr">
              <a:spcBef>
                <a:spcPts val="600"/>
              </a:spcBef>
              <a:defRPr sz="1300" b="1">
                <a:solidFill>
                  <a:srgbClr val="366092"/>
                </a:solidFill>
                <a:latin typeface="Calibri"/>
              </a:defRPr>
            </a:pPr>
            <a:r>
              <a:t>Under the supervision of: Ms. Sarita Sahni</a:t>
            </a:r>
          </a:p>
          <a:p>
            <a:pPr algn="ctr">
              <a:spcBef>
                <a:spcPts val="6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Jaypee University of Engineering &amp; Technology, Guna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