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" name="Rectangle 7" hidden="1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2" name="Rectangle 8" hidden="1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3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248520"/>
            <a:ext cx="532800" cy="3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2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61BC23A-4B2F-4DA9-A841-E94231F9EBF2}" type="slidenum">
              <a:rPr b="1" lang="en-US" sz="1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10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8076600" cy="86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Click </a:t>
            </a: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to edit </a:t>
            </a: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Maste</a:t>
            </a: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r title </a:t>
            </a: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5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0" y="1272240"/>
            <a:ext cx="532800" cy="2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74C2814C-41D5-4846-9191-FC0C6D2C95B7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752480"/>
            <a:ext cx="1599480" cy="4342680"/>
          </a:xfrm>
          <a:prstGeom prst="rect">
            <a:avLst/>
          </a:prstGeom>
          <a:solidFill>
            <a:schemeClr val="accent2"/>
          </a:solidFill>
          <a:ln cap="sq" w="50760">
            <a:solidFill>
              <a:schemeClr val="accent2"/>
            </a:solidFill>
            <a:miter/>
          </a:ln>
          <a:effectLst>
            <a:outerShdw dist="29880" dir="5400000" blurRad="38160" rotWithShape="0">
              <a:srgbClr val="000000">
                <a:alpha val="45000"/>
              </a:srgbClr>
            </a:outerShdw>
          </a:effectLst>
        </p:spPr>
        <p:txBody>
          <a:bodyPr lIns="137160" rIns="137160" tIns="182880" bIns="91440" anchor="t">
            <a:noAutofit/>
          </a:bodyPr>
          <a:p>
            <a:pPr indent="0">
              <a:lnSpc>
                <a:spcPct val="100000"/>
              </a:lnSpc>
              <a:spcBef>
                <a:spcPts val="700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body"/>
          </p:nvPr>
        </p:nvSpPr>
        <p:spPr>
          <a:xfrm>
            <a:off x="2362320" y="1752480"/>
            <a:ext cx="6400080" cy="441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 hidden="1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" name="Rectangle 7" hidden="1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9" name="Rectangle 8" hidden="1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20" name="Picture 2" descr="C:\Users\vipin.tyagi\Desktop\footer-img.png"/>
          <p:cNvPicPr/>
          <p:nvPr/>
        </p:nvPicPr>
        <p:blipFill>
          <a:blip r:embed="rId3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1600200" y="5486400"/>
            <a:ext cx="7314480" cy="68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-9000" y="4572000"/>
            <a:ext cx="9143280" cy="886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23" name="Rectangle 8"/>
          <p:cNvSpPr/>
          <p:nvPr/>
        </p:nvSpPr>
        <p:spPr>
          <a:xfrm>
            <a:off x="-9000" y="4663440"/>
            <a:ext cx="1462320" cy="7124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24" name="Rectangle 9"/>
          <p:cNvSpPr/>
          <p:nvPr/>
        </p:nvSpPr>
        <p:spPr>
          <a:xfrm>
            <a:off x="1545480" y="4654440"/>
            <a:ext cx="7597800" cy="712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1600200" y="4648320"/>
            <a:ext cx="7314480" cy="68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10"/>
          <p:cNvSpPr/>
          <p:nvPr/>
        </p:nvSpPr>
        <p:spPr>
          <a:xfrm>
            <a:off x="1447920" y="0"/>
            <a:ext cx="99720" cy="686628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7"/>
          </p:nvPr>
        </p:nvSpPr>
        <p:spPr>
          <a:xfrm>
            <a:off x="624852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8"/>
          </p:nvPr>
        </p:nvSpPr>
        <p:spPr>
          <a:xfrm>
            <a:off x="0" y="4667400"/>
            <a:ext cx="1447200" cy="66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28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4C0449B-8ADF-4730-B219-B322D5221382}" type="slidenum"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9"/>
          </p:nvPr>
        </p:nvSpPr>
        <p:spPr>
          <a:xfrm>
            <a:off x="1600200" y="6248160"/>
            <a:ext cx="4571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body"/>
          </p:nvPr>
        </p:nvSpPr>
        <p:spPr>
          <a:xfrm>
            <a:off x="1560600" y="0"/>
            <a:ext cx="7582680" cy="4568400"/>
          </a:xfrm>
          <a:prstGeom prst="rect">
            <a:avLst/>
          </a:prstGeom>
          <a:solidFill>
            <a:schemeClr val="accent1">
              <a:tint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 hidden="1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32" name="Rectangle 7" hidden="1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33" name="Rectangle 8" hidden="1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34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Rectangle 6"/>
          <p:cNvSpPr/>
          <p:nvPr/>
        </p:nvSpPr>
        <p:spPr>
          <a:xfrm>
            <a:off x="0" y="5970960"/>
            <a:ext cx="9143280" cy="886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36" name="Rectangle 9"/>
          <p:cNvSpPr/>
          <p:nvPr/>
        </p:nvSpPr>
        <p:spPr>
          <a:xfrm>
            <a:off x="-9000" y="6053400"/>
            <a:ext cx="2248560" cy="7124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37" name="Rectangle 10"/>
          <p:cNvSpPr/>
          <p:nvPr/>
        </p:nvSpPr>
        <p:spPr>
          <a:xfrm>
            <a:off x="2359080" y="6044040"/>
            <a:ext cx="6784200" cy="712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362320" y="4038480"/>
            <a:ext cx="6476400" cy="182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10"/>
          </p:nvPr>
        </p:nvSpPr>
        <p:spPr>
          <a:xfrm>
            <a:off x="76320" y="6068520"/>
            <a:ext cx="2056680" cy="68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2000" strike="noStrike" u="none">
                <a:solidFill>
                  <a:schemeClr val="lt1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&lt;date/time&gt;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1"/>
          </p:nvPr>
        </p:nvSpPr>
        <p:spPr>
          <a:xfrm>
            <a:off x="2085480" y="236520"/>
            <a:ext cx="58665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2"/>
          </p:nvPr>
        </p:nvSpPr>
        <p:spPr>
          <a:xfrm>
            <a:off x="8001000" y="228600"/>
            <a:ext cx="837360" cy="3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lt2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F389857-8C0E-4C3C-8B0D-0C1E80D8E047}" type="slidenum">
              <a:rPr b="1" lang="en-US" sz="1400" strike="noStrike" u="none">
                <a:solidFill>
                  <a:schemeClr val="lt2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9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Click to edit the outline text format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3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Second Outline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6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44" name="Rectangle 7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45" name="Rectangle 8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46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560" cy="45255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3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4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5"/>
          </p:nvPr>
        </p:nvSpPr>
        <p:spPr>
          <a:xfrm>
            <a:off x="0" y="1272240"/>
            <a:ext cx="532800" cy="2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E5876C6-4904-49FF-9976-292D7F692760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 hidden="1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53" name="Rectangle 7" hidden="1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54" name="Rectangle 8" hidden="1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55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553080" y="609480"/>
            <a:ext cx="2056680" cy="551592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609480"/>
            <a:ext cx="5562000" cy="551592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16"/>
          </p:nvPr>
        </p:nvSpPr>
        <p:spPr>
          <a:xfrm>
            <a:off x="6553080" y="6248520"/>
            <a:ext cx="22089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17"/>
          </p:nvPr>
        </p:nvSpPr>
        <p:spPr>
          <a:xfrm>
            <a:off x="457200" y="6248160"/>
            <a:ext cx="55728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Rectangle 6"/>
          <p:cNvSpPr/>
          <p:nvPr/>
        </p:nvSpPr>
        <p:spPr>
          <a:xfrm>
            <a:off x="6096240" y="0"/>
            <a:ext cx="319320" cy="68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61" name="Rectangle 7"/>
          <p:cNvSpPr/>
          <p:nvPr/>
        </p:nvSpPr>
        <p:spPr>
          <a:xfrm>
            <a:off x="6141960" y="609480"/>
            <a:ext cx="227880" cy="624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62" name="Rectangle 8"/>
          <p:cNvSpPr/>
          <p:nvPr/>
        </p:nvSpPr>
        <p:spPr>
          <a:xfrm>
            <a:off x="6141960" y="0"/>
            <a:ext cx="227880" cy="53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18"/>
          </p:nvPr>
        </p:nvSpPr>
        <p:spPr>
          <a:xfrm rot="5400000">
            <a:off x="5990040" y="144000"/>
            <a:ext cx="532800" cy="2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927364A4-03C1-47D6-985F-B8F95C19E408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67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dt" idx="19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20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21"/>
          </p:nvPr>
        </p:nvSpPr>
        <p:spPr>
          <a:xfrm>
            <a:off x="0" y="1272240"/>
            <a:ext cx="532800" cy="2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17A3454-8135-4C64-AA60-277556CCCC6A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560" cy="449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 hidden="1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74" name="Rectangle 7" hidden="1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75" name="Rectangle 8" hidden="1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76" name="Picture 2" descr="C:\Users\vipin.tyagi\Desktop\footer-img.png"/>
          <p:cNvPicPr/>
          <p:nvPr/>
        </p:nvPicPr>
        <p:blipFill>
          <a:blip r:embed="rId3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body"/>
          </p:nvPr>
        </p:nvSpPr>
        <p:spPr>
          <a:xfrm>
            <a:off x="1371600" y="2743200"/>
            <a:ext cx="7122240" cy="167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0" y="1523880"/>
            <a:ext cx="9143280" cy="114228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0" y="1600200"/>
            <a:ext cx="1294560" cy="9900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1371600" y="1600200"/>
            <a:ext cx="7771680" cy="990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1940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22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3"/>
          </p:nvPr>
        </p:nvSpPr>
        <p:spPr>
          <a:xfrm>
            <a:off x="0" y="1752480"/>
            <a:ext cx="1294560" cy="700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2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7AA3CC44-BF66-4C81-BBE7-EFDD44365470}" type="slidenum"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24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6" name="Rectangle 7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7" name="Rectangle 8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88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589400"/>
            <a:ext cx="3885480" cy="457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844880" y="1589400"/>
            <a:ext cx="3885480" cy="457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25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26"/>
          </p:nvPr>
        </p:nvSpPr>
        <p:spPr>
          <a:xfrm>
            <a:off x="0" y="1272240"/>
            <a:ext cx="532800" cy="2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B7AF54A8-F9EB-461B-847B-54F977F89292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ftr" idx="27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6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6" name="Rectangle 7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7" name="Rectangle 8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98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33520" y="272880"/>
            <a:ext cx="8152560" cy="86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2438280"/>
            <a:ext cx="3885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800600" y="2438280"/>
            <a:ext cx="3885480" cy="35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28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sldNum" idx="29"/>
          </p:nvPr>
        </p:nvSpPr>
        <p:spPr>
          <a:xfrm>
            <a:off x="0" y="1272240"/>
            <a:ext cx="532800" cy="2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9756F9F-006E-408A-A7BE-07CB0643622D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ftr" idx="30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7"/>
          <p:cNvSpPr>
            <a:spLocks noGrp="1"/>
          </p:cNvSpPr>
          <p:nvPr>
            <p:ph type="body"/>
          </p:nvPr>
        </p:nvSpPr>
        <p:spPr>
          <a:xfrm>
            <a:off x="609480" y="1752480"/>
            <a:ext cx="3885480" cy="639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8"/>
          <p:cNvSpPr>
            <a:spLocks noGrp="1"/>
          </p:cNvSpPr>
          <p:nvPr>
            <p:ph type="body"/>
          </p:nvPr>
        </p:nvSpPr>
        <p:spPr>
          <a:xfrm>
            <a:off x="4800600" y="1752480"/>
            <a:ext cx="3885480" cy="63936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6"/>
          <p:cNvSpPr/>
          <p:nvPr/>
        </p:nvSpPr>
        <p:spPr>
          <a:xfrm>
            <a:off x="0" y="1234440"/>
            <a:ext cx="9143280" cy="31932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8" name="Rectangle 7"/>
          <p:cNvSpPr/>
          <p:nvPr/>
        </p:nvSpPr>
        <p:spPr>
          <a:xfrm>
            <a:off x="0" y="1280160"/>
            <a:ext cx="532800" cy="22788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9" name="Rectangle 8"/>
          <p:cNvSpPr/>
          <p:nvPr/>
        </p:nvSpPr>
        <p:spPr>
          <a:xfrm>
            <a:off x="590400" y="1280160"/>
            <a:ext cx="8552880" cy="2278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pic>
        <p:nvPicPr>
          <p:cNvPr id="110" name="Picture 2" descr="C:\Users\vipin.tyagi\Desktop\footer-img.png"/>
          <p:cNvPicPr/>
          <p:nvPr/>
        </p:nvPicPr>
        <p:blipFill>
          <a:blip r:embed="rId2"/>
          <a:stretch/>
        </p:blipFill>
        <p:spPr>
          <a:xfrm>
            <a:off x="8229600" y="228600"/>
            <a:ext cx="74232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Tw Cen M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dt" idx="31"/>
          </p:nvPr>
        </p:nvSpPr>
        <p:spPr>
          <a:xfrm>
            <a:off x="6095880" y="6248520"/>
            <a:ext cx="26661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32"/>
          </p:nvPr>
        </p:nvSpPr>
        <p:spPr>
          <a:xfrm>
            <a:off x="609480" y="6248160"/>
            <a:ext cx="54205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sldNum" idx="33"/>
          </p:nvPr>
        </p:nvSpPr>
        <p:spPr>
          <a:xfrm>
            <a:off x="0" y="1272240"/>
            <a:ext cx="532800" cy="24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066BC5C0-8CDB-426C-A525-7D1961EEA082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5280" y="304920"/>
            <a:ext cx="647640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trike="noStrike" u="none" cap="all">
                <a:solidFill>
                  <a:srgbClr val="1b365d"/>
                </a:solidFill>
                <a:effectLst/>
                <a:uFillTx/>
                <a:latin typeface="Arial"/>
              </a:rPr>
              <a:t>AI-POWERED RESUME AUTOMATION SYSTEM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ubTitle"/>
          </p:nvPr>
        </p:nvSpPr>
        <p:spPr>
          <a:xfrm>
            <a:off x="2362320" y="6050160"/>
            <a:ext cx="6705000" cy="68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Jaypee University of Engineering &amp; Technology, Guna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1905120" y="1371600"/>
            <a:ext cx="525708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by: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Tw Cen MT"/>
              </a:rPr>
              <a:t>Utkarsh Shah (241B278)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Tw Cen MT"/>
              </a:rPr>
              <a:t>Utsav Kothari (241B279)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Tw Cen MT"/>
              </a:rPr>
              <a:t>Yashasv Pandey (241B295)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2286000" y="2819520"/>
            <a:ext cx="457128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Under the supervision of: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5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Ms. Sarita Sahni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2" descr="C:\Users\vipin.tyagi\Desktop\footer-img.png"/>
          <p:cNvPicPr/>
          <p:nvPr/>
        </p:nvPicPr>
        <p:blipFill>
          <a:blip r:embed="rId1"/>
          <a:stretch/>
        </p:blipFill>
        <p:spPr>
          <a:xfrm>
            <a:off x="4114800" y="4343400"/>
            <a:ext cx="1040760" cy="123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Table of Contents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4"/>
          <p:cNvSpPr/>
          <p:nvPr/>
        </p:nvSpPr>
        <p:spPr>
          <a:xfrm>
            <a:off x="594360" y="169164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1. Introduction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Project overview, core objectives &amp; target users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5"/>
          <p:cNvSpPr/>
          <p:nvPr/>
        </p:nvSpPr>
        <p:spPr>
          <a:xfrm>
            <a:off x="594360" y="262440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2. Problem Statement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Key challenges in entry-level job applications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6"/>
          <p:cNvSpPr/>
          <p:nvPr/>
        </p:nvSpPr>
        <p:spPr>
          <a:xfrm>
            <a:off x="594360" y="355716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3. Literature Review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Existing solutions, comparison matrix &amp; gaps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594360" y="448956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4. Work Plan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10-week milestones &amp; current progress log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8"/>
          <p:cNvSpPr/>
          <p:nvPr/>
        </p:nvSpPr>
        <p:spPr>
          <a:xfrm>
            <a:off x="594360" y="542232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5. Individual Contribution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Role allocation &amp; modular ownership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4663440" y="169164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6. Work Done So Far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System architecture, behavioral workflow &amp;  UI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0"/>
          <p:cNvSpPr/>
          <p:nvPr/>
        </p:nvSpPr>
        <p:spPr>
          <a:xfrm>
            <a:off x="4663440" y="262440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7. Work to be Done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Browser extension, portal adapters &amp; evaluation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4663440" y="355716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8. Conclusion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Progress summary &amp; expected outcomes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2"/>
          <p:cNvSpPr/>
          <p:nvPr/>
        </p:nvSpPr>
        <p:spPr>
          <a:xfrm>
            <a:off x="4663440" y="4489560"/>
            <a:ext cx="3885480" cy="840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9. References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Academic citations in official IEEE format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1. Introduction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4"/>
          <p:cNvSpPr/>
          <p:nvPr/>
        </p:nvSpPr>
        <p:spPr>
          <a:xfrm>
            <a:off x="594360" y="1691640"/>
            <a:ext cx="3885480" cy="3474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Project Overview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</a:t>
            </a: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 AI-assisted career copilot designed specifically for college students and freshers.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Solves the fragmented job hunting journey by uniting discovery, evaluation, document tailoring, and tracking.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Extracts normalized candidate profiles from unstructured resumes to eliminate redundant parsing.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Combines LLM language comprehension with deterministic scoring and safety rules.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5"/>
          <p:cNvSpPr/>
          <p:nvPr/>
        </p:nvSpPr>
        <p:spPr>
          <a:xfrm>
            <a:off x="4663440" y="1691640"/>
            <a:ext cx="3885480" cy="3474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Project Objectives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Reduce repetitive effort in searching, customizing, and applying across multiple job boards.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Deliver multi-factor job compatibility ranking (semantic similarity, skills match, preferences).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Generate ATS-compliant, tailored resumes and targeted cover letters without fabrications.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Establish Human-In-The-Loop approval gates: automation assists, but user retains final authorization</a:t>
            </a: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6"/>
          <p:cNvSpPr/>
          <p:nvPr/>
        </p:nvSpPr>
        <p:spPr>
          <a:xfrm>
            <a:off x="594360" y="5486400"/>
            <a:ext cx="7954560" cy="8679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End-to-End Application Workflow Pipeline: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Resume Upload  ➜  Profile Structuring  ➜  Job Discovery  ➜  Multi-Factor Match  ➜  ATS Tailoring  ➜  Reviewer Check  ➜  User Approval  ➜  Extension Autofill  ➜  Status Tracking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2. Problem Statement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4"/>
          <p:cNvSpPr/>
          <p:nvPr/>
        </p:nvSpPr>
        <p:spPr>
          <a:xfrm>
            <a:off x="594360" y="1691640"/>
            <a:ext cx="3885480" cy="3291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Challenges Faced by Students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Fragmented Portals: Students spend endless hours navigating company websites, LinkedIn, and internship boards.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Generic Resumes: Submitting a single static resume leads to immediate rejection by ATS filters.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Repetitive Tailoring: Manually customizing resumes and cover letters for dozens of roles causes severe burnout.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Lost Applications: Tracking status, versions, and application dates in spreadsheets is tedious and error-prone.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5"/>
          <p:cNvSpPr/>
          <p:nvPr/>
        </p:nvSpPr>
        <p:spPr>
          <a:xfrm>
            <a:off x="4663440" y="1691640"/>
            <a:ext cx="3885480" cy="3291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d9531e"/>
                </a:solidFill>
                <a:effectLst/>
                <a:uFillTx/>
                <a:latin typeface="Arial"/>
              </a:rPr>
              <a:t>Flaws in Current Automation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Uncontrolled Scripts: Existing bot appliers submit without user oversight, risking bans and wrong applications.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Hallucinated Claims: Naive LLM resume builders frequently invent fake experience or stuffed keywords.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No Session Reusability: Cloud automation tools require storing credentials, risking security leaks.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Disconnected Tooling: Resume builders, job alerts, and tracker boards operate in isolated silos.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6"/>
          <p:cNvSpPr/>
          <p:nvPr/>
        </p:nvSpPr>
        <p:spPr>
          <a:xfrm>
            <a:off x="594360" y="5120640"/>
            <a:ext cx="7954560" cy="1050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Core Problem Addressed: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1200" strike="noStrike" u="none">
                <a:solidFill>
                  <a:srgbClr val="1b365d"/>
                </a:solidFill>
                <a:effectLst/>
                <a:uFillTx/>
                <a:latin typeface="Calibri"/>
              </a:rPr>
              <a:t>“How can an intelligent, multi-agent system eliminate repetitive job application effort while preserving ATS relevance, document truthfulness, and guaranteed user approval at every critical step?”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3. Literature Review &amp; Research Gap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Table 4"/>
          <p:cNvGraphicFramePr/>
          <p:nvPr/>
        </p:nvGraphicFramePr>
        <p:xfrm>
          <a:off x="594360" y="1691640"/>
          <a:ext cx="7954920" cy="20106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  <a:gridCol w="1188720"/>
                <a:gridCol w="1280160"/>
              </a:tblGrid>
              <a:tr h="4021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System / Approach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Job Discovery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Resume Tailoring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Auto Apply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Tracking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User Approval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Traditional Job Boards (LinkedIn, Indeed)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Yes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Limited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Limited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N/A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Auto-Apply Bots (AIHawk, Scripts)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Limited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Basic / None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Yes (Aggressive)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Limited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No (Risk of Bans)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AI Resume Builders (Novoresume, etc.)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Yes (Manual)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N/A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Proposed System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Yes (Hybrid Adapters)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Yes (ATS Verified)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Supported Portals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Yes (Real-time)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Yes (Mandatory Gate)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5"/>
          <p:cNvSpPr/>
          <p:nvPr/>
        </p:nvSpPr>
        <p:spPr>
          <a:xfrm>
            <a:off x="594360" y="3931920"/>
            <a:ext cx="3885480" cy="2331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d9531e"/>
                </a:solidFill>
                <a:effectLst/>
                <a:uFillTx/>
                <a:latin typeface="Arial"/>
              </a:rPr>
              <a:t>Identified Research Gaps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Fragmented Tooling: Job search, document drafting, and application tracking are isolated.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Unverified AI Output: Generic LLM resumes suffer from keyword stuffing and inaccurate claims.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Safety Neglect: Autonomous scripts submit without user review, risking irrelevance and bans.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6"/>
          <p:cNvSpPr/>
          <p:nvPr/>
        </p:nvSpPr>
        <p:spPr>
          <a:xfrm>
            <a:off x="4663440" y="3931920"/>
            <a:ext cx="3885480" cy="2331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Proposed Improvements &amp; Innovation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Unified Multi-Agent Architecture: Orchestrates parsing, matching, tailoring, and tracking.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Drafter ➜ Reviewer ➜ Verification Loop: Deterministic scoring and PDF verification eliminate hallucinated claims.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Browser Extension Architecture: Executes actions within the user's active session without exposing credentials.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4. Work Plan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Table 4"/>
          <p:cNvGraphicFramePr/>
          <p:nvPr/>
        </p:nvGraphicFramePr>
        <p:xfrm>
          <a:off x="594360" y="1691640"/>
          <a:ext cx="7954920" cy="4023360"/>
        </p:xfrm>
        <a:graphic>
          <a:graphicData uri="http://schemas.openxmlformats.org/drawingml/2006/table">
            <a:tbl>
              <a:tblPr/>
              <a:tblGrid>
                <a:gridCol w="1371600"/>
                <a:gridCol w="4754880"/>
                <a:gridCol w="1828800"/>
              </a:tblGrid>
              <a:tr h="4154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Week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Planned Work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Status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</a:tr>
              <a:tr h="601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Week 1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Problem identification, student user interviews, and requirement analysis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Completed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  <a:tr h="601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Week 2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Literature review, existing system benchmarking (AIHawk, LoopCV, LinkedIn bots)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Completed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  <a:tr h="601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Week 3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Frontend architecture, Design &amp; component mockup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Completed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  <a:tr h="601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Week 4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Backend event-driven multi-agent architecture and FastAPI service design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Completed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  <a:tr h="601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Week 5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Multi-user database schema, relational domain modeling, and FAISS vector design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Completed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  <a:tr h="6019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Week 6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Resume upload, structured candidate profile parsing, and profile data models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</a:rPr>
                        <a:t>Completed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5"/>
          <p:cNvSpPr/>
          <p:nvPr/>
        </p:nvSpPr>
        <p:spPr>
          <a:xfrm>
            <a:off x="594360" y="5989320"/>
            <a:ext cx="57895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5. Individual Contribution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2" name="Table 4"/>
          <p:cNvGraphicFramePr/>
          <p:nvPr/>
        </p:nvGraphicFramePr>
        <p:xfrm>
          <a:off x="594360" y="1691640"/>
          <a:ext cx="795492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4480560"/>
              </a:tblGrid>
              <a:tr h="7315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Member Name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Enrollment No.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Core Contribution &amp; System Ownership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66092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1b365d"/>
                          </a:solidFill>
                          <a:effectLst/>
                          <a:uFillTx/>
                          <a:latin typeface="Calibri"/>
                        </a:rPr>
                        <a:t>Utkarsh Shah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241B278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System Architecture, Event-Driven Backend (FastAPI, Redis event queue), Multi-Agent Orchestration &amp; Model Router (GLM, Qwen, Groq).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1b365d"/>
                          </a:solidFill>
                          <a:effectLst/>
                          <a:uFillTx/>
                          <a:latin typeface="Calibri"/>
                        </a:rPr>
                        <a:t>Utsav Kothari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241B279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Frontend Architecture, Clyde Dark Editorial UI/UX implementation, Agent Dashboard, Resume Center, and WebSocket state management.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1b365d"/>
                          </a:solidFill>
                          <a:effectLst/>
                          <a:uFillTx/>
                          <a:latin typeface="Calibri"/>
                        </a:rPr>
                        <a:t>Yashasv Pandey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366092"/>
                          </a:solidFill>
                          <a:effectLst/>
                          <a:uFillTx/>
                          <a:latin typeface="Calibri"/>
                        </a:rPr>
                        <a:t>241B295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Resume Parsing Engine, Structured Profile Extraction, FAISS Vector Embedding Store, and Multi-Factor Job Matching Algorithm.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" name="Rounded Rectangle 5"/>
          <p:cNvSpPr/>
          <p:nvPr/>
        </p:nvSpPr>
        <p:spPr>
          <a:xfrm>
            <a:off x="594360" y="4846320"/>
            <a:ext cx="7954560" cy="1279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3716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Collaborative Team Responsibilities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Joint requirement engineering and analysis of college student job-application friction points.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Collaborative system design, behavioral sequence modeling, and end-to-end data pipeline validation.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Unified testing, ATS scoring benchmark evaluation, documentation, and department presentation.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6. Work Done So Far: System Architecture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4"/>
          <p:cNvSpPr/>
          <p:nvPr/>
        </p:nvSpPr>
        <p:spPr>
          <a:xfrm>
            <a:off x="594360" y="1645920"/>
            <a:ext cx="7954560" cy="1169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777240" y="1673280"/>
            <a:ext cx="385992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0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1. PRESENTATION &amp; CLIENT LAYER (React 18, TypeScript,  UI)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6"/>
          <p:cNvSpPr/>
          <p:nvPr/>
        </p:nvSpPr>
        <p:spPr>
          <a:xfrm>
            <a:off x="731520" y="1993320"/>
            <a:ext cx="17823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Agent Dashboard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5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Natural language chat, task activity &amp; telemetry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7"/>
          <p:cNvSpPr/>
          <p:nvPr/>
        </p:nvSpPr>
        <p:spPr>
          <a:xfrm>
            <a:off x="2670120" y="1993320"/>
            <a:ext cx="17823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Resume Center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5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PDF upload, structured profile &amp; ATS versioning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8"/>
          <p:cNvSpPr/>
          <p:nvPr/>
        </p:nvSpPr>
        <p:spPr>
          <a:xfrm>
            <a:off x="4608720" y="1993320"/>
            <a:ext cx="17823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Job Discovery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5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Semantic match scores, filters &amp; role cards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9"/>
          <p:cNvSpPr/>
          <p:nvPr/>
        </p:nvSpPr>
        <p:spPr>
          <a:xfrm>
            <a:off x="6546960" y="1993320"/>
            <a:ext cx="17823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Browser Extension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5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DOM inspection, form mapper &amp; session autofill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0"/>
          <p:cNvSpPr/>
          <p:nvPr/>
        </p:nvSpPr>
        <p:spPr>
          <a:xfrm>
            <a:off x="594360" y="2944440"/>
            <a:ext cx="7954560" cy="19195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1b365d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777240" y="2980800"/>
            <a:ext cx="7588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0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2. EVENT-DRIVEN MULTI-AGENT BACKEND LAYER (FastAPI Gateway + Redis Event Bus)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2"/>
          <p:cNvSpPr/>
          <p:nvPr/>
        </p:nvSpPr>
        <p:spPr>
          <a:xfrm>
            <a:off x="731520" y="327348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Orchestrator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Workflow planner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13"/>
          <p:cNvSpPr/>
          <p:nvPr/>
        </p:nvSpPr>
        <p:spPr>
          <a:xfrm>
            <a:off x="2670120" y="327348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Resume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Parser &amp; tailor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4"/>
          <p:cNvSpPr/>
          <p:nvPr/>
        </p:nvSpPr>
        <p:spPr>
          <a:xfrm>
            <a:off x="4608720" y="327348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Job Discovery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Source adapters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5"/>
          <p:cNvSpPr/>
          <p:nvPr/>
        </p:nvSpPr>
        <p:spPr>
          <a:xfrm>
            <a:off x="6546960" y="327348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ATS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Scoring &amp; verifier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16"/>
          <p:cNvSpPr/>
          <p:nvPr/>
        </p:nvSpPr>
        <p:spPr>
          <a:xfrm>
            <a:off x="731520" y="378576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Cover Letter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Targeted drafting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17"/>
          <p:cNvSpPr/>
          <p:nvPr/>
        </p:nvSpPr>
        <p:spPr>
          <a:xfrm>
            <a:off x="2670120" y="378576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Reviewer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Quality &amp; audit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8"/>
          <p:cNvSpPr/>
          <p:nvPr/>
        </p:nvSpPr>
        <p:spPr>
          <a:xfrm>
            <a:off x="4608720" y="378576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Application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Submission logic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9"/>
          <p:cNvSpPr/>
          <p:nvPr/>
        </p:nvSpPr>
        <p:spPr>
          <a:xfrm>
            <a:off x="6546960" y="3785760"/>
            <a:ext cx="1782360" cy="4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366092"/>
                </a:solidFill>
                <a:effectLst/>
                <a:uFillTx/>
                <a:latin typeface="Tw Cen MT"/>
              </a:rPr>
              <a:t>Tracking Agent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Telemetry &amp; logs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20"/>
          <p:cNvSpPr/>
          <p:nvPr/>
        </p:nvSpPr>
        <p:spPr>
          <a:xfrm>
            <a:off x="731520" y="4370760"/>
            <a:ext cx="7680240" cy="365040"/>
          </a:xfrm>
          <a:prstGeom prst="roundRect">
            <a:avLst>
              <a:gd name="adj" fmla="val 16667"/>
            </a:avLst>
          </a:prstGeom>
          <a:solidFill>
            <a:srgbClr val="1b365d"/>
          </a:solidFill>
          <a:ln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90000" tIns="5472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Central Model Router: GLM (Drafting/Writing) | Qwen (Reasoning) | Groq (Fast Inference) | Ollama (Local Fallback)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21"/>
          <p:cNvSpPr/>
          <p:nvPr/>
        </p:nvSpPr>
        <p:spPr>
          <a:xfrm>
            <a:off x="594360" y="4983480"/>
            <a:ext cx="7954560" cy="12337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4" name="TextBox 22"/>
          <p:cNvSpPr/>
          <p:nvPr/>
        </p:nvSpPr>
        <p:spPr>
          <a:xfrm>
            <a:off x="777240" y="5029200"/>
            <a:ext cx="7588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0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3. DATA PERSISTENCE &amp; VECTOR INTELLIGENCE LAYER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23"/>
          <p:cNvSpPr/>
          <p:nvPr/>
        </p:nvSpPr>
        <p:spPr>
          <a:xfrm>
            <a:off x="731520" y="5321880"/>
            <a:ext cx="2449800" cy="74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PostgreSQL (Relational Store)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5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Multi-user tables: Users, Resumes, Jobs, Applications, Events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24"/>
          <p:cNvSpPr/>
          <p:nvPr/>
        </p:nvSpPr>
        <p:spPr>
          <a:xfrm>
            <a:off x="3346560" y="5321880"/>
            <a:ext cx="2449800" cy="74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FAISS (Vector Store)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5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High-performance embedding indices for resume &amp; job vectors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25"/>
          <p:cNvSpPr/>
          <p:nvPr/>
        </p:nvSpPr>
        <p:spPr>
          <a:xfrm>
            <a:off x="5961960" y="5321880"/>
            <a:ext cx="2449800" cy="74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Tw Cen MT"/>
              </a:rPr>
              <a:t>Redis (Cache &amp; Event Queue)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750" strike="noStrike" u="none">
                <a:solidFill>
                  <a:srgbClr val="475569"/>
                </a:solidFill>
                <a:effectLst/>
                <a:uFillTx/>
                <a:latin typeface="Tw Cen MT"/>
              </a:rPr>
              <a:t>Decoupled pub/sub event bus, transient states, rate limiting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6. Work Done So Far: Behavioral Workflow &amp; Data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4"/>
          <p:cNvSpPr/>
          <p:nvPr/>
        </p:nvSpPr>
        <p:spPr>
          <a:xfrm>
            <a:off x="594360" y="1645920"/>
            <a:ext cx="3885480" cy="44798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5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End-to-End Behavioral Workflow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1. Ingestion: Candidate uploads resume PDF to Resume Center.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2. Structuring: Resume Agent extracts skills, education, projects.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3. Profile Persistence: Normalized profile saved in PostgreSQL.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4. Job Discovery: Hybrid adapters query API/boards/career pages.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5. Multi-Factor Match: FAISS vector similarity + deterministic scoring.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6. Resume Tailoring: Resume Agent tailors bullet points to JD.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7. Quality Review: Reviewer Agent checks claims &amp; keyword density.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8. PDF Verification: Text extracted from rendered PDF for check.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9. Cover Letter: Tailored company letter drafted &amp; verified.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10. Safety Gate: Mandatory user approval prompt on UI.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11. Dispatch: Application Agent transmits action plan to extension.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12. Submission: Browser extension autofills &amp; submits in session.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9"/>
              </a:spcBef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13. Tracking: Tracking Agent logs timestamp &amp; status in DB.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5"/>
          <p:cNvSpPr/>
          <p:nvPr/>
        </p:nvSpPr>
        <p:spPr>
          <a:xfrm>
            <a:off x="4663440" y="1645920"/>
            <a:ext cx="3885480" cy="2148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5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Multi-User Database Schema Domains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8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</a:t>
            </a: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Candidate Domain: users, resumes, resume_versions, candidate_profiles, extracted_skills, education, projects.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Job Domain: companies, job_sources, jobs, job_matches.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Application Domain: cover_letters, applications (Status: Saved, Ready, Applied, Interview, Rejected), events.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Agent Domain: workflows, agent_runs, provider_health.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6"/>
          <p:cNvSpPr/>
          <p:nvPr/>
        </p:nvSpPr>
        <p:spPr>
          <a:xfrm>
            <a:off x="4663440" y="3977640"/>
            <a:ext cx="3885480" cy="21481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5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AI Quality Pipeline &amp; Safety Model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8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</a:t>
            </a: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Drafter ➜ Reviewer ➜ Revision Loop: Independent Reviewer Agent audits drafts against strict rules before finalizing.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Anti-Hallucination: Rejects unsupported experience claims.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Keyword Verification: Prevents spammy keyword stuffing.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Hybrid Approval Policy: Low-risk tasks (search, match, ATS scoring) run autonomously; Critical actions (version commit, application submission) require explicit user click.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6. Work Done So Far: Application UI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4"/>
          <p:cNvSpPr/>
          <p:nvPr/>
        </p:nvSpPr>
        <p:spPr>
          <a:xfrm>
            <a:off x="594360" y="1645920"/>
            <a:ext cx="3885480" cy="328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3672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1.Dashboard (Chat &amp; Telemetry)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5" descr="screen.png"/>
          <p:cNvPicPr/>
          <p:nvPr/>
        </p:nvPicPr>
        <p:blipFill>
          <a:blip r:embed="rId1"/>
          <a:stretch/>
        </p:blipFill>
        <p:spPr>
          <a:xfrm>
            <a:off x="685800" y="2030040"/>
            <a:ext cx="3702600" cy="171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Rounded Rectangle 6"/>
          <p:cNvSpPr/>
          <p:nvPr/>
        </p:nvSpPr>
        <p:spPr>
          <a:xfrm>
            <a:off x="4663440" y="1645920"/>
            <a:ext cx="3885480" cy="328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3672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2. Resume Optimization Center (Profiles &amp; Versions)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7" descr="screen.png"/>
          <p:cNvPicPr/>
          <p:nvPr/>
        </p:nvPicPr>
        <p:blipFill>
          <a:blip r:embed="rId2"/>
          <a:stretch/>
        </p:blipFill>
        <p:spPr>
          <a:xfrm>
            <a:off x="4754880" y="2030040"/>
            <a:ext cx="3702600" cy="171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Rounded Rectangle 8"/>
          <p:cNvSpPr/>
          <p:nvPr/>
        </p:nvSpPr>
        <p:spPr>
          <a:xfrm>
            <a:off x="594360" y="3977640"/>
            <a:ext cx="3885480" cy="328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3672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3. Job Discovery &amp; Match Ranking (FAISS Similarity)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Picture 9" descr="screen.png"/>
          <p:cNvPicPr/>
          <p:nvPr/>
        </p:nvPicPr>
        <p:blipFill>
          <a:blip r:embed="rId3"/>
          <a:stretch/>
        </p:blipFill>
        <p:spPr>
          <a:xfrm>
            <a:off x="685800" y="4361760"/>
            <a:ext cx="3702600" cy="171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Rounded Rectangle 10"/>
          <p:cNvSpPr/>
          <p:nvPr/>
        </p:nvSpPr>
        <p:spPr>
          <a:xfrm>
            <a:off x="4663440" y="3977640"/>
            <a:ext cx="3885480" cy="328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3672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5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4. ATS Keyword &amp; Gap Analysis (Deterministic Scoring)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11" descr="screen.png"/>
          <p:cNvPicPr/>
          <p:nvPr/>
        </p:nvPicPr>
        <p:blipFill>
          <a:blip r:embed="rId4"/>
          <a:stretch/>
        </p:blipFill>
        <p:spPr>
          <a:xfrm>
            <a:off x="4754880" y="4361760"/>
            <a:ext cx="3702600" cy="171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7. Work to be Done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4"/>
          <p:cNvSpPr/>
          <p:nvPr/>
        </p:nvSpPr>
        <p:spPr>
          <a:xfrm>
            <a:off x="594360" y="1691640"/>
            <a:ext cx="3885480" cy="4205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Implementation Tasks Ahead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</a:t>
            </a: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Browser Extension Completion: Implement content scripts and form autofill engine for Workday, Greenhouse, and LinkedIn.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Model Router Integration: Finalize automatic provider failover (GLM ➜ Qwen ➜ Groq ➜ Ollama fallback).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PDF Verification Pipeline: Deploy deterministic text-extraction verification to ensure rendered PDF matches approved structured resume.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Full Multi-User Migration: Finalize database migrations for production multi-user session management.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5"/>
          <p:cNvSpPr/>
          <p:nvPr/>
        </p:nvSpPr>
        <p:spPr>
          <a:xfrm>
            <a:off x="4800960" y="1737720"/>
            <a:ext cx="3885480" cy="4205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Testing, Evaluation &amp; Benchmarking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ATS Pass Rate Benchmark: Measure keyword match improvements on 50+ real software and AI internship descriptions.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Submission Accuracy Testing: Test form autofill precision on complex multi-step application forms.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Latency &amp; Reliability Audits: Benchmark end-to-end processing times across Redis queue and multi-agent pipelines.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User Evaluation Study: Run pilot trials with JUET students to collect feedback on approval UX and match relevance.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8. Conclusion &amp; Expected Outcomes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4"/>
          <p:cNvSpPr/>
          <p:nvPr/>
        </p:nvSpPr>
        <p:spPr>
          <a:xfrm>
            <a:off x="594360" y="1691640"/>
            <a:ext cx="3885480" cy="3291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Summary of Progress So Far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Completed rigorous requirement engineering and literature benchmark.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Finalized full event-driven multi-agent architecture and database schema.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Developed  frontend dashboard.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Functional working modules: Resume PDF parsing, structured candidate profiles, AI agent chat,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5"/>
          <p:cNvSpPr/>
          <p:nvPr/>
        </p:nvSpPr>
        <p:spPr>
          <a:xfrm>
            <a:off x="4663440" y="1691640"/>
            <a:ext cx="3885480" cy="3291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Expected Project Outcomes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A complete, student-centric career copilot reducing application fatigue by &gt;80%.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Significantly higher ATS shortlisting rates through tailored, truthful resumes.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100% user safety with zero credential storage and mandatory human approval.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• A robust, extensible architectural benchmark for event-driven academic multi-agent systems.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6"/>
          <p:cNvSpPr/>
          <p:nvPr/>
        </p:nvSpPr>
        <p:spPr>
          <a:xfrm>
            <a:off x="594360" y="5120640"/>
            <a:ext cx="7954560" cy="1050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366092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098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Core Takeaway: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1150" strike="noStrike" u="none">
                <a:solidFill>
                  <a:srgbClr val="1b365d"/>
                </a:solidFill>
                <a:effectLst/>
                <a:uFillTx/>
                <a:latin typeface="Calibri"/>
              </a:rPr>
              <a:t>“The system does not replace the student’s judgment—it eliminates repetitive manual toil, unlocks deep opportunity visibility, and guarantees that every submitted application is relevant, verified, and user-approved.”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560" cy="99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9. References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0" y="1271160"/>
            <a:ext cx="529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900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4"/>
          <p:cNvSpPr/>
          <p:nvPr/>
        </p:nvSpPr>
        <p:spPr>
          <a:xfrm>
            <a:off x="594360" y="1691640"/>
            <a:ext cx="7954560" cy="4434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2286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Arial"/>
              </a:rPr>
              <a:t>Academic &amp; Technical References (IEEE Format)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[1] M. Lorentzen, “AI Job Search,” GitHub repository, 2026. [Online]. Available: https://github.com/MadsLorentzen/ai-job-search.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[2] feder-cr, “Jobs Applier AI Agent AIHawk,” GitHub repository, 2026. [Online]. Available: https://github.com/feder-cr/Jobs_Applier_AI_Agent_AIHawk.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[3] jomacs, “LinkedIn Auto Jobs Applier with AI,” GitHub repository, 2026. [Online]. Available: https://github.com/jomacs/linkedIn_auto_jobs_applier_with_AI.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[4] S. Fer, “Career Ops,” GitHub repository, 2026. [Online]. Available: https://github.com/santifer/career-ops.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lang="en-US" sz="13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[5] LoopCV, “LoopCV: Job Search Automation Platform,” 2026. [Online]. Available: https://www.loopcv.pro/.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0" y="1691640"/>
            <a:ext cx="1188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14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Picture 2" descr="image.png"/>
          <p:cNvPicPr/>
          <p:nvPr/>
        </p:nvPicPr>
        <p:blipFill>
          <a:blip r:embed="rId1"/>
          <a:stretch/>
        </p:blipFill>
        <p:spPr>
          <a:xfrm>
            <a:off x="3959280" y="151920"/>
            <a:ext cx="1215360" cy="14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Box 3"/>
          <p:cNvSpPr/>
          <p:nvPr/>
        </p:nvSpPr>
        <p:spPr>
          <a:xfrm>
            <a:off x="914400" y="2651760"/>
            <a:ext cx="731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800" strike="noStrike" u="none">
                <a:solidFill>
                  <a:srgbClr val="1b365d"/>
                </a:solidFill>
                <a:effectLst/>
                <a:uFillTx/>
                <a:latin typeface="Arial"/>
              </a:rPr>
              <a:t>Thank You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914400" y="3794760"/>
            <a:ext cx="7314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366092"/>
                </a:solidFill>
                <a:effectLst/>
                <a:uFillTx/>
                <a:latin typeface="Calibri"/>
              </a:rPr>
              <a:t>Questions &amp; Discussion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914400" y="4663440"/>
            <a:ext cx="7314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Utkarsh Shah (241B278)   |   Utsav Kothari (241B279)   |   Yashasv Pandey (241B295)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601"/>
              </a:spcBef>
            </a:pPr>
            <a:r>
              <a:rPr b="1" lang="en-US" sz="1300" strike="noStrike" u="none">
                <a:solidFill>
                  <a:srgbClr val="366092"/>
                </a:solidFill>
                <a:effectLst/>
                <a:uFillTx/>
                <a:latin typeface="Calibri"/>
              </a:rPr>
              <a:t>Under the supervision of: Ms. Sarita Sahni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Calibri"/>
              </a:rPr>
              <a:t>Jaypee University of Engineering &amp; Technology, Guna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
</Relationships>
</file>

<file path=ppt/theme/theme1.xml><?xml version="1.0" encoding="utf-8"?>
<a:theme xmlns:a="http://schemas.openxmlformats.org/drawingml/2006/main" xmlns:r="http://schemas.openxmlformats.org/officeDocument/2006/relationships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 pitchFamily="0" charset="1"/>
        <a:ea typeface=""/>
        <a:cs typeface=""/>
      </a:majorFont>
      <a:minorFont>
        <a:latin typeface="Tw Cen MT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4762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blipFill rotWithShape="0">
          <a:blip r:embed="rId1"/>
          <a:srcRect l="0" t="0" r="0" b="0"/>
          <a:tile tx="0" ty="0" sx="100000" sy="100000" flip="none" algn="tl"/>
        </a:blipFill>
        <a:blipFill rotWithShape="0">
          <a:blip r:embed="rId2"/>
          <a:srcRect l="0" t="0" r="0" b="0"/>
          <a:tile tx="0" ty="0" sx="100000" sy="10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2026-09-11T23:44:40Z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